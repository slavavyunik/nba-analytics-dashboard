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Важность признаков (XGBoost)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Важность</c:v>
                </c:pt>
              </c:strCache>
            </c:strRef>
          </c:tx>
          <c:spPr>
            <a:solidFill>
              <a:srgbClr val="1D42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Эффективность</c:v>
                  </c:pt>
                  <c:pt idx="1">
                    <c:v>USG%</c:v>
                  </c:pt>
                  <c:pt idx="2">
                    <c:v>Потери</c:v>
                  </c:pt>
                  <c:pt idx="3">
                    <c:v>Подборы</c:v>
                  </c:pt>
                  <c:pt idx="4">
                    <c:v>TS%</c:v>
                  </c:pt>
                  <c:pt idx="5">
                    <c:v>3P%</c:v>
                  </c:pt>
                  <c:pt idx="6">
                    <c:v>Перехваты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55.9</c:v>
                </c:pt>
                <c:pt idx="1">
                  <c:v>17.6</c:v>
                </c:pt>
                <c:pt idx="2">
                  <c:v>17.3</c:v>
                </c:pt>
                <c:pt idx="3">
                  <c:v>2.3</c:v>
                </c:pt>
                <c:pt idx="4">
                  <c:v>1.7</c:v>
                </c:pt>
                <c:pt idx="5">
                  <c:v>1</c:v>
                </c:pt>
                <c:pt idx="6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3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P(All-Star) топ-5 игроков,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P(All-Star), %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5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42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856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Игрок A</c:v>
                  </c:pt>
                  <c:pt idx="1">
                    <c:v>Игрок B</c:v>
                  </c:pt>
                  <c:pt idx="2">
                    <c:v>Игрок C</c:v>
                  </c:pt>
                  <c:pt idx="3">
                    <c:v>Игрок D</c:v>
                  </c:pt>
                  <c:pt idx="4">
                    <c:v>Игрок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67</c:v>
                </c:pt>
                <c:pt idx="2">
                  <c:v>55</c:v>
                </c:pt>
                <c:pt idx="3">
                  <c:v>38</c:v>
                </c:pt>
                <c:pt idx="4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EF3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Эффективная граница Парето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Составы</c:v>
                </c:pt>
              </c:strCache>
            </c:strRef>
          </c:tx>
          <c:spPr>
            <a:solidFill>
              <a:srgbClr val="DBEAFE"/>
            </a:solidFill>
            <a:ln w="25400" cap="flat">
              <a:solidFill>
                <a:srgbClr val="DBEAF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BEAFE"/>
              </a:solidFill>
              <a:ln w="9525" cap="flat">
                <a:solidFill>
                  <a:srgbClr val="DBEAFE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18</c:v>
                </c:pt>
                <c:pt idx="1">
                  <c:v>22</c:v>
                </c:pt>
                <c:pt idx="2">
                  <c:v>28</c:v>
                </c:pt>
                <c:pt idx="3">
                  <c:v>35</c:v>
                </c:pt>
                <c:pt idx="4">
                  <c:v>42</c:v>
                </c:pt>
                <c:pt idx="5">
                  <c:v>50</c:v>
                </c:pt>
                <c:pt idx="6">
                  <c:v>58</c:v>
                </c:pt>
                <c:pt idx="7">
                  <c:v>65</c:v>
                </c:pt>
                <c:pt idx="8">
                  <c:v>72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280</c:v>
                </c:pt>
                <c:pt idx="1">
                  <c:v>310</c:v>
                </c:pt>
                <c:pt idx="2">
                  <c:v>355</c:v>
                </c:pt>
                <c:pt idx="3">
                  <c:v>390</c:v>
                </c:pt>
                <c:pt idx="4">
                  <c:v>415</c:v>
                </c:pt>
                <c:pt idx="5">
                  <c:v>435</c:v>
                </c:pt>
                <c:pt idx="6">
                  <c:v>448</c:v>
                </c:pt>
                <c:pt idx="7">
                  <c:v>452</c:v>
                </c:pt>
                <c:pt idx="8">
                  <c:v>450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Граница Парето</c:v>
                </c:pt>
              </c:strCache>
            </c:strRef>
          </c:tx>
          <c:spPr>
            <a:solidFill>
              <a:srgbClr val="C8102E"/>
            </a:solidFill>
            <a:ln w="25400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18</c:v>
                </c:pt>
                <c:pt idx="1">
                  <c:v>22</c:v>
                </c:pt>
                <c:pt idx="2">
                  <c:v>28</c:v>
                </c:pt>
                <c:pt idx="3">
                  <c:v>35</c:v>
                </c:pt>
                <c:pt idx="4">
                  <c:v>42</c:v>
                </c:pt>
                <c:pt idx="5">
                  <c:v>50</c:v>
                </c:pt>
                <c:pt idx="6">
                  <c:v>58</c:v>
                </c:pt>
                <c:pt idx="7">
                  <c:v>65</c:v>
                </c:pt>
                <c:pt idx="8">
                  <c:v>72</c:v>
                </c:pt>
              </c:numCache>
            </c:numRef>
          </c:xVal>
          <c:yVal>
            <c:numRef>
              <c:f>Sheet1!$C$2:$C$10</c:f>
              <c:numCache>
                <c:formatCode>General</c:formatCode>
                <c:ptCount val="9"/>
                <c:pt idx="0">
                  <c:v>295</c:v>
                </c:pt>
                <c:pt idx="1">
                  <c:v>325</c:v>
                </c:pt>
                <c:pt idx="2">
                  <c:v>368</c:v>
                </c:pt>
                <c:pt idx="3">
                  <c:v>400</c:v>
                </c:pt>
                <c:pt idx="4">
                  <c:v>422</c:v>
                </c:pt>
                <c:pt idx="5">
                  <c:v>440</c:v>
                </c:pt>
                <c:pt idx="6">
                  <c:v>451</c:v>
                </c:pt>
                <c:pt idx="7">
                  <c:v>455</c:v>
                </c:pt>
                <c:pt idx="8">
                  <c:v>453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EEF3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Кривые выживаемости (Kaplan-Meier)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Низкий риск</c:v>
                </c:pt>
              </c:strCache>
            </c:strRef>
          </c:tx>
          <c:spPr>
            <a:solidFill>
              <a:srgbClr val="16A34A"/>
            </a:solidFill>
            <a:ln w="3175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0.95</c:v>
                </c:pt>
                <c:pt idx="2">
                  <c:v>0.89</c:v>
                </c:pt>
                <c:pt idx="3">
                  <c:v>0.82</c:v>
                </c:pt>
                <c:pt idx="4">
                  <c:v>0.73</c:v>
                </c:pt>
                <c:pt idx="5">
                  <c:v>0.64</c:v>
                </c:pt>
                <c:pt idx="6">
                  <c:v>0.55</c:v>
                </c:pt>
                <c:pt idx="7">
                  <c:v>0.47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Средний риск</c:v>
                </c:pt>
              </c:strCache>
            </c:strRef>
          </c:tx>
          <c:spPr>
            <a:solidFill>
              <a:srgbClr val="FFC72C"/>
            </a:solidFill>
            <a:ln w="31750" cap="flat">
              <a:solidFill>
                <a:srgbClr val="FFC7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C72C"/>
              </a:solidFill>
              <a:ln w="9525" cap="flat">
                <a:solidFill>
                  <a:srgbClr val="FFC7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0.91</c:v>
                </c:pt>
                <c:pt idx="2">
                  <c:v>0.8</c:v>
                </c:pt>
                <c:pt idx="3">
                  <c:v>0.68</c:v>
                </c:pt>
                <c:pt idx="4">
                  <c:v>0.56</c:v>
                </c:pt>
                <c:pt idx="5">
                  <c:v>0.44</c:v>
                </c:pt>
                <c:pt idx="6">
                  <c:v>0.34</c:v>
                </c:pt>
                <c:pt idx="7">
                  <c:v>0.26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Высокий риск</c:v>
                </c:pt>
              </c:strCache>
            </c:strRef>
          </c:tx>
          <c:spPr>
            <a:solidFill>
              <a:srgbClr val="C8102E"/>
            </a:solidFill>
            <a:ln w="3175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</c:v>
                </c:pt>
                <c:pt idx="1">
                  <c:v>0.84</c:v>
                </c:pt>
                <c:pt idx="2">
                  <c:v>0.68</c:v>
                </c:pt>
                <c:pt idx="3">
                  <c:v>0.53</c:v>
                </c:pt>
                <c:pt idx="4">
                  <c:v>0.4</c:v>
                </c:pt>
                <c:pt idx="5">
                  <c:v>0.3</c:v>
                </c:pt>
                <c:pt idx="6">
                  <c:v>0.22</c:v>
                </c:pt>
                <c:pt idx="7">
                  <c:v>0.16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EEF3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0"/>
            <a:ext cx="256032" cy="514350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371600" cy="292608"/>
          </a:xfrm>
          <a:prstGeom prst="roundRect">
            <a:avLst>
              <a:gd name="adj" fmla="val 375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NBA  2025–26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NBA Analytics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816352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94A3B8"/>
                </a:solidFill>
              </a:rPr>
              <a:t>Комплексная платформа анализа игроков на основе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94A3B8"/>
                </a:solidFill>
              </a:rPr>
              <a:t>машинного обучения и математических методов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3931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72C"/>
                </a:solidFill>
              </a:rPr>
              <a:t>456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43251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игроков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3931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72C"/>
                </a:solidFill>
              </a:rPr>
              <a:t>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43251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команд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3931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72C"/>
                </a:solidFill>
              </a:rPr>
              <a:t>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3400" y="43251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страниц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3931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72C"/>
                </a:solidFill>
              </a:rPr>
              <a:t>9 336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43251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строк кода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7863840" cy="0"/>
          </a:xfrm>
          <a:prstGeom prst="line">
            <a:avLst/>
          </a:prstGeom>
          <a:noFill/>
          <a:ln w="12700">
            <a:solidFill>
              <a:srgbClr val="1D428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 проекте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Интерактивный дашборд NBA 2025–26 на базе Streamlit и машинного обучения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389888"/>
            <a:ext cx="2029968" cy="1207008"/>
          </a:xfrm>
          <a:prstGeom prst="rect">
            <a:avLst/>
          </a:prstGeom>
          <a:solidFill>
            <a:srgbClr val="EEF3FF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389888"/>
            <a:ext cx="64008" cy="120700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499616"/>
            <a:ext cx="182880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28A"/>
                </a:solidFill>
              </a:rPr>
              <a:t>456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20624" y="2114093"/>
            <a:ext cx="182880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игроков NBA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2025–26 сезона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389888"/>
            <a:ext cx="2029968" cy="1207008"/>
          </a:xfrm>
          <a:prstGeom prst="rect">
            <a:avLst/>
          </a:prstGeom>
          <a:solidFill>
            <a:srgbClr val="EEF3FF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32304" y="1389888"/>
            <a:ext cx="64008" cy="1207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499616"/>
            <a:ext cx="182880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</a:rPr>
              <a:t>85+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96896" y="2114093"/>
            <a:ext cx="182880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статистических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показателей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08576" y="1389888"/>
            <a:ext cx="2029968" cy="1207008"/>
          </a:xfrm>
          <a:prstGeom prst="rect">
            <a:avLst/>
          </a:prstGeom>
          <a:solidFill>
            <a:srgbClr val="EEF3FF"/>
          </a:solidFill>
          <a:ln w="12700">
            <a:solidFill>
              <a:srgbClr val="FFC7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389888"/>
            <a:ext cx="64008" cy="1207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499616"/>
            <a:ext cx="182880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C72C"/>
                </a:solidFill>
              </a:rPr>
              <a:t>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73168" y="2114093"/>
            <a:ext cx="182880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аналитических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модулей (src/*.py)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84848" y="1389888"/>
            <a:ext cx="2029968" cy="1207008"/>
          </a:xfrm>
          <a:prstGeom prst="rect">
            <a:avLst/>
          </a:prstGeom>
          <a:solidFill>
            <a:srgbClr val="EEF3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84848" y="1389888"/>
            <a:ext cx="64008" cy="1207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499616"/>
            <a:ext cx="182880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A34A"/>
                </a:solidFill>
              </a:rPr>
              <a:t>9 336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49440" y="2114093"/>
            <a:ext cx="1828800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строк кода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Python + JS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" y="2834640"/>
            <a:ext cx="8631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</a:rPr>
              <a:t>Платформа объединяет классические методы ML (XGBoost, Ridge Regression, UMAP), продвинутую математику (Монте-Карло, Марковиц MVO, байесовский вывод, сетевой анализ, анализ выживаемости) и генеративный AI (Google Gemini 2.5 Flash) в едином интерактивном интерфейсе.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56032" y="3657600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657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Python 3.12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353312" y="3657600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53312" y="3657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Streamlit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50592" y="3657600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3657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XGBoost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47872" y="3657600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3657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Plotly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45152" y="3657600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3657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scikit-learn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42432" y="3657600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657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UMAP-learn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39712" y="3657600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3657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SciPy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36992" y="3657600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365760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28A"/>
                </a:solidFill>
              </a:rPr>
              <a:t>Google Gemini API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6032" y="35478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Стек технологий: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 системы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Модульный дизайн: каждый аналитический блок — независимый src-модуль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298448"/>
            <a:ext cx="1627632" cy="2331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298448"/>
            <a:ext cx="1627632" cy="54864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1752" y="190195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Данные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" y="2240280"/>
            <a:ext cx="1481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NBA Stats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456 игроков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85 показателей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56232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93392" y="1298448"/>
            <a:ext cx="1627632" cy="2331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1298448"/>
            <a:ext cx="1627632" cy="54864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389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66544" y="190195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Обработка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66544" y="2240280"/>
            <a:ext cx="1481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Нормализация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Feature Engineering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Clustering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21024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58184" y="1298448"/>
            <a:ext cx="1627632" cy="2331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298448"/>
            <a:ext cx="1627632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1389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31336" y="190195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ML &amp; Math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31336" y="2240280"/>
            <a:ext cx="1481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XGBoost · KMeans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UMAP · Monte Carlo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Байес · Граф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85816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22976" y="1298448"/>
            <a:ext cx="1627632" cy="2331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22976" y="1298448"/>
            <a:ext cx="1627632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25896" y="1389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96128" y="190195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слой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96128" y="2240280"/>
            <a:ext cx="1481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Google Gemini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Автоматические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отчёты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50608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87768" y="1298448"/>
            <a:ext cx="1627632" cy="233172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87768" y="1298448"/>
            <a:ext cx="162763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1389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60920" y="190195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Дашборд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0920" y="2240280"/>
            <a:ext cx="1481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20 страниц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7 категорий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" y="3840480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app/dashboard.py  ·  src/*.py (22 модуля)  ·  app/nba_theme.py  ·  data/processed/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Кластеризация игроков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UMAP (размерное сжатие) + KMeans → 5 архетипов игроков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4572000" cy="804672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898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28A"/>
                </a:solidFill>
              </a:rPr>
              <a:t>UMAP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733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Uniform Manifold Approximation &amp; Projection — нелинейное сжатие 13 признаков в 2D пространство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2212848"/>
            <a:ext cx="4572000" cy="804672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3042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28A"/>
                </a:solidFill>
              </a:rPr>
              <a:t>KMeans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877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K-Means кластеризация (k=5) в UMAP-пространстве — группировка по игровому стилю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3127248"/>
            <a:ext cx="4572000" cy="804672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186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28A"/>
                </a:solidFill>
              </a:rPr>
              <a:t>Признаки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021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PTS, AST, REB, STL, BLK, FG%, 3P%, FT%, USG%, TS%, +/-, эффективность, возраст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Результат — 5 кластеров: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1645920"/>
            <a:ext cx="3749040" cy="4572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700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⭐ Звезда лиги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43800" y="17007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46 игр.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2212848"/>
            <a:ext cx="3749040" cy="45720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22677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Плеймейкер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22677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DC3D0"/>
                </a:solidFill>
              </a:rPr>
              <a:t>152 игр.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2779776"/>
            <a:ext cx="374904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🏀 Большой (Big Man)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43800" y="28346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DC3D0"/>
                </a:solidFill>
              </a:rPr>
              <a:t>117 игр.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3346704"/>
            <a:ext cx="374904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 3-and-D игрок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3800" y="34015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DC3D0"/>
                </a:solidFill>
              </a:rPr>
              <a:t>63 игр.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3913632"/>
            <a:ext cx="374904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3968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Ролевой игрок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39684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DC3D0"/>
                </a:solidFill>
              </a:rPr>
              <a:t>78 игр.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4526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Всего 456 игроков · NBA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ML: Прогноз результативности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XGBoost Regressor + 5-fold кросс-валидация → прогноз очков следующего сезона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029968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261872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71600"/>
            <a:ext cx="18288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A34A"/>
                </a:solidFill>
              </a:rPr>
              <a:t>0.69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20624" y="1865376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MAE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очков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32304" y="1261872"/>
            <a:ext cx="2029968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32304" y="1261872"/>
            <a:ext cx="64008" cy="100584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371600"/>
            <a:ext cx="18288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428A"/>
                </a:solidFill>
              </a:rPr>
              <a:t>0.977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96896" y="1865376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R²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точность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08576" y="1261872"/>
            <a:ext cx="2029968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261872"/>
            <a:ext cx="64008" cy="1005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371600"/>
            <a:ext cx="18288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102E"/>
                </a:solidFill>
              </a:rPr>
              <a:t>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73168" y="1865376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k-fold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кросс-валидация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84848" y="1261872"/>
            <a:ext cx="2029968" cy="1005840"/>
          </a:xfrm>
          <a:prstGeom prst="rect">
            <a:avLst/>
          </a:prstGeom>
          <a:solidFill>
            <a:srgbClr val="EEF3FF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84848" y="1261872"/>
            <a:ext cx="64008" cy="10058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371600"/>
            <a:ext cx="1828800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B59B6"/>
                </a:solidFill>
              </a:rPr>
              <a:t>13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49440" y="1865376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Признаки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входных переменных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56032" y="2487168"/>
          <a:ext cx="5303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806440" y="2487168"/>
            <a:ext cx="3081528" cy="5212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61888" y="25237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1. Входные данные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61888" y="27432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13 статистических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признаков + возраст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06440" y="3072384"/>
            <a:ext cx="3081528" cy="5212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61888" y="3108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2. StandardScaler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61888" y="33284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Нормализация всех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фичей перед обучением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806440" y="3657600"/>
            <a:ext cx="3081528" cy="5212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6941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3. XGBoost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961888" y="39136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300 деревьев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max_depth=4, lr=0.05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806440" y="4242816"/>
            <a:ext cx="3081528" cy="5212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61888" y="42793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4. Прогноз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961888" y="44988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Очки × возрастной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коэффициент роста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737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C72C"/>
                </a:solidFill>
              </a:rPr>
              <a:t>РАЗДЕЛ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02996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Математические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85292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методы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1627632" cy="329184"/>
          </a:xfrm>
          <a:prstGeom prst="roundRect">
            <a:avLst>
              <a:gd name="adj" fmla="val 33333"/>
            </a:avLst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9776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🎲 Monte Carlo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21992" y="3977640"/>
            <a:ext cx="1627632" cy="329184"/>
          </a:xfrm>
          <a:prstGeom prst="roundRect">
            <a:avLst>
              <a:gd name="adj" fmla="val 33333"/>
            </a:avLst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39776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📐 Марковиц MVO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41064" y="3977640"/>
            <a:ext cx="1627632" cy="329184"/>
          </a:xfrm>
          <a:prstGeom prst="roundRect">
            <a:avLst>
              <a:gd name="adj" fmla="val 33333"/>
            </a:avLst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41064" y="39776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🧮 Байес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0136" y="3977640"/>
            <a:ext cx="1627632" cy="329184"/>
          </a:xfrm>
          <a:prstGeom prst="roundRect">
            <a:avLst>
              <a:gd name="adj" fmla="val 33333"/>
            </a:avLst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0136" y="39776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🕸 Сеть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79208" y="3977640"/>
            <a:ext cx="1627632" cy="329184"/>
          </a:xfrm>
          <a:prstGeom prst="roundRect">
            <a:avLst>
              <a:gd name="adj" fmla="val 33333"/>
            </a:avLst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9208" y="39776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⚰️ Выживаемость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Monte Carlo симуляция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8 000 симуляций за сезон для каждого игрока · Вероятностные прогнозы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4572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298448"/>
            <a:ext cx="4572000" cy="54864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8988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Модель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1691640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X ~ Normal(μ, σ)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σ = μ × CV,  где CV = 0.10 + бонус за молодость/малый GP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2395728"/>
            <a:ext cx="4572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395728"/>
            <a:ext cx="4572000" cy="54864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48716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Результат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2788920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P(All-Star), P(≥20pts), P(≥25pts), P(≥30pts)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E[PTS], P10, P90 — интервал неопределённости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3493008"/>
            <a:ext cx="4572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3493008"/>
            <a:ext cx="4572000" cy="54864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58444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Применение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" y="3886200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Ранжирование игроков по вероятности пика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Оценка риска контракта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74920" y="1298448"/>
          <a:ext cx="3794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Портфельная оптимизация (Марковиц)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Mean-Variance Optimization адаптирован для построения оптимального состава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4572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298448"/>
            <a:ext cx="45720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8988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Аналогия с финансами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1691640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Trade Value = доходность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Injury Risk = риск портфеля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Портфель = состав команды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2395728"/>
            <a:ext cx="4572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395728"/>
            <a:ext cx="45720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48716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Целевая функция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2788920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max Σ Trade_Value(i)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s.t. √(mean(risk²)) ≤ risk_budget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3493008"/>
            <a:ext cx="4572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3493008"/>
            <a:ext cx="45720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58444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Алгоритм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" y="3886200"/>
            <a:ext cx="4315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Жадный отбор по TV/risk ratio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Перебор risk_budget 10–90 → граница Парето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74920" y="1298448"/>
          <a:ext cx="3794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074920" y="452628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X = риск портфеля  ·  Y = суммарный Trade Value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Байесовская статистика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Регуляризация малых выборок · Shrinkage к лиговому приору · Credible Intervals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426110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298448"/>
            <a:ext cx="4261104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8988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Проблема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1691640"/>
            <a:ext cx="40050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5 матчей, FG% = 60%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Действительно ли игрок так хорош?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2584" y="1298448"/>
            <a:ext cx="426110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72584" y="1298448"/>
            <a:ext cx="4261104" cy="54864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138988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Beta-Binomial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37176" y="1691640"/>
            <a:ext cx="40050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Для % бросков: FG_PCT, 3P%, FT%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Prior: Beta(α₀, β₀) → лиговое среднее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779776"/>
            <a:ext cx="426110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779776"/>
            <a:ext cx="4261104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8712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Normal-Normal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" y="3172968"/>
            <a:ext cx="40050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Для счётных метрик: PTS, AST, REB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Prior: N(μ₀, σ₀) — конъюгатный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72584" y="2779776"/>
            <a:ext cx="426110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2779776"/>
            <a:ext cx="4261104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28712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Shrinkage эффект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37176" y="3172968"/>
            <a:ext cx="40050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κ = prior_strength / (prior_strength + n_games)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Больше матчей → меньше сжатие к приору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4343400"/>
            <a:ext cx="8631936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4343400"/>
            <a:ext cx="8631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C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Posterior FG% = (α₀ + FGM) / (α₀ + β₀ + FGA)   ·   Posterior PTS = (κ·μ₀ + (1-κ)·x̄) ± 95% CI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Сетевой анализ игроков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Граф схожести · PageRank · Community Detection — без использования NetworkX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2788920" cy="160020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298448"/>
            <a:ext cx="54864" cy="160020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1499616"/>
            <a:ext cx="347472" cy="347472"/>
          </a:xfrm>
          <a:prstGeom prst="ellipse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49961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Косинусная схожесть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" y="18470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11 признаков (PTS, AST, REB…)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матрица 456×456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98448"/>
            <a:ext cx="2788920" cy="160020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98448"/>
            <a:ext cx="54864" cy="1600200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499616"/>
            <a:ext cx="347472" cy="347472"/>
          </a:xfrm>
          <a:prstGeom prst="ellipse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149961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Бинарная матрица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94760" y="18470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Порог sim ≥ 0.92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граф смежности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1298448"/>
            <a:ext cx="2788920" cy="160020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298448"/>
            <a:ext cx="54864" cy="1600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499616"/>
            <a:ext cx="347472" cy="34747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39128" y="149961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PageRank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39128" y="184708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Реализация с нуля на numpy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d=0.85, max_iter=100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035808"/>
            <a:ext cx="2788920" cy="160020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035808"/>
            <a:ext cx="54864" cy="1600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" y="3236976"/>
            <a:ext cx="347472" cy="34747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" y="323697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Communities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0392" y="358444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Жадное обнаружение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модульности сообществ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035808"/>
            <a:ext cx="2788920" cy="1600200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035808"/>
            <a:ext cx="54864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64992" y="3236976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94760" y="323697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Визуализация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794760" y="3584448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Force-directed layout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(векторизованный spring)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Анализ выживаемости карьеры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Kaplan-Meier · Cox Proportional Hazard · «Время до снижения эффективности»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457200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298448"/>
            <a:ext cx="4572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8988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Kaplan-Meier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1691640"/>
            <a:ext cx="43159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Непараметрическая кривая выживаемости с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интервалами Гринвуда и log(-log) CI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Реализован с нуля на NumPy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2432304"/>
            <a:ext cx="457200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432304"/>
            <a:ext cx="4572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523744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Cox PH модель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2825496"/>
            <a:ext cx="43159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Аппроксимация через LogisticRegression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+ 200 итераций bootstrap для CI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Hazard Ratios: возраст, риск, кластер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3566160"/>
            <a:ext cx="4572000" cy="10424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3566160"/>
            <a:ext cx="457200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657600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«Событие»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" y="3959352"/>
            <a:ext cx="43159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Снижение efficiency ≥ 15% относительно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пика → симулируется из Exp(λ) с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поправками на возраст и риск травмы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74920" y="1298448"/>
          <a:ext cx="3794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074920" y="452628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X = сезоны  ·  Y = P(эффективность сохранена)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C72C"/>
                </a:solidFill>
              </a:rPr>
              <a:t>AI СЛОЙ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Интеграция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Google Gemini 2.5 Flash · Скаутинг-репорты · Trade Machine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783080"/>
            <a:ext cx="1609344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892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" y="225856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Полный скаутинг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2560320"/>
            <a:ext cx="138074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Сильные/слабые стороны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Роль в команде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Трансферная оценка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93392" y="1783080"/>
            <a:ext cx="1609344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30552" y="1892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30552" y="225856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Контрактная оценка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30552" y="2560320"/>
            <a:ext cx="138074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Справедливая зарплата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Риски долгосрока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Рекомендация GM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30752" y="1783080"/>
            <a:ext cx="1609344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67912" y="1892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67912" y="225856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Прогноз карьеры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67912" y="2560320"/>
            <a:ext cx="138074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Текущая фаза карьеры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Потолок и дно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Исторические аналоги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68112" y="1783080"/>
            <a:ext cx="1609344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05272" y="1892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⚔️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05272" y="225856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Сравнение игроков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05272" y="2560320"/>
            <a:ext cx="138074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Head-to-head анализ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Статистика + стиль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Вердикт с оценкой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05472" y="1783080"/>
            <a:ext cx="1609344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1D42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42632" y="1892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42632" y="2258568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Trade Machine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42632" y="2560320"/>
            <a:ext cx="138074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Баланс Trade Value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Стратегический анализ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Победитель сделки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457200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4572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Google Gemini 2.5 Flash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Интерфейс дашборда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7 категорий · 20 страниц · Темная тема · Адаптивный Streamlit UI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4160520" cy="7498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261872"/>
            <a:ext cx="54864" cy="749808"/>
          </a:xfrm>
          <a:prstGeom prst="rect">
            <a:avLst/>
          </a:prstGeom>
          <a:solidFill>
            <a:srgbClr val="1D428A"/>
          </a:solidFill>
          <a:ln w="12700">
            <a:solidFill>
              <a:srgbClr val="1D42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📊 Обзор лиги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Обзор · Лидеры · Кластеры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261872"/>
            <a:ext cx="4160520" cy="7498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261872"/>
            <a:ext cx="54864" cy="7498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👤 Игроки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73752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Карточка · Head-to-Head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130552"/>
            <a:ext cx="4160520" cy="7498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130552"/>
            <a:ext cx="54864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🤖 ML &amp; Аналитика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0624" y="2496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Аномалии · Прогноз · Продв. · AI Скаут · AI Трейд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130552"/>
            <a:ext cx="4160520" cy="7498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130552"/>
            <a:ext cx="54864" cy="7498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💰 Трейд &amp; Деньги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73752" y="2496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Trade Value · Контракт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999232"/>
            <a:ext cx="4160520" cy="7498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999232"/>
            <a:ext cx="54864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📈 Развитие &amp; Здоровье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0624" y="3364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Развитие · Риск травмы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999232"/>
            <a:ext cx="4160520" cy="7498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999232"/>
            <a:ext cx="54864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🏗️ Тактика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73752" y="3364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Состав команды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50008" y="3867912"/>
            <a:ext cx="4160520" cy="749808"/>
          </a:xfrm>
          <a:prstGeom prst="rect">
            <a:avLst/>
          </a:prstGeom>
          <a:solidFill>
            <a:srgbClr val="EE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0008" y="3867912"/>
            <a:ext cx="54864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🧮 Математика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514600" y="4233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Monte Carlo · Марковиц · Байес · Сеть · Выживаемость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C72C"/>
                </a:solidFill>
              </a:rPr>
              <a:t>ИТОГИ ПРОЕКТА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Выводы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8404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72C"/>
                </a:solidFill>
              </a:rPr>
              <a:t>ML Pipeline: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87168" y="1508760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XGBoost R²=0.977, MAE=0.69 pts — высокая точность прогноза при 5-fold CV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2029968"/>
            <a:ext cx="8375904" cy="0"/>
          </a:xfrm>
          <a:prstGeom prst="line">
            <a:avLst/>
          </a:prstGeom>
          <a:noFill/>
          <a:ln w="9525">
            <a:solidFill>
              <a:srgbClr val="1D2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671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72C"/>
                </a:solidFill>
              </a:rPr>
              <a:t>Математика: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87168" y="2167128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5 продвинутых методов реализованы с нуля (без готовых библиотек КМ, PageRank, UMAP-граф)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4048" y="2688336"/>
            <a:ext cx="8375904" cy="0"/>
          </a:xfrm>
          <a:prstGeom prst="line">
            <a:avLst/>
          </a:prstGeom>
          <a:noFill/>
          <a:ln w="9525">
            <a:solidFill>
              <a:srgbClr val="1D2D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8254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72C"/>
                </a:solidFill>
              </a:rPr>
              <a:t>AI интеграция: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7168" y="2825496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Gemini 2.5 Flash генерирует профессиональные отчёты и анализирует трейды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" y="3346704"/>
            <a:ext cx="8375904" cy="0"/>
          </a:xfrm>
          <a:prstGeom prst="line">
            <a:avLst/>
          </a:prstGeom>
          <a:noFill/>
          <a:ln w="9525">
            <a:solidFill>
              <a:srgbClr val="1D2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4838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C72C"/>
                </a:solidFill>
              </a:rPr>
              <a:t>Качество кода: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87168" y="3483864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9 336 строк, 22 модуля, кэширование данных, тёмная тема, QA-тесты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4048" y="4005072"/>
            <a:ext cx="8375904" cy="0"/>
          </a:xfrm>
          <a:prstGeom prst="line">
            <a:avLst/>
          </a:prstGeom>
          <a:noFill/>
          <a:ln w="9525">
            <a:solidFill>
              <a:srgbClr val="1D2D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142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Дальнейшее развитие: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87168" y="4142232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Real-time API · Hot/Cold Streak детектор · Draft Intelligence · Cap Space Optimizer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NBA Analytics Dashboard  ·  Python / Streamlit / XGBoost / Gemini AI  · 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NBA Analytics Dashboard</dc:title>
  <dc:subject>ML &amp; Data Analytics</dc:subject>
  <dc:creator>Student Project</dc:creator>
  <cp:lastModifiedBy>Student Project</cp:lastModifiedBy>
  <cp:revision>1</cp:revision>
  <dcterms:created xsi:type="dcterms:W3CDTF">2026-05-31T18:19:15Z</dcterms:created>
  <dcterms:modified xsi:type="dcterms:W3CDTF">2026-05-31T18:19:15Z</dcterms:modified>
</cp:coreProperties>
</file>