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Важность признаков XGBoost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признака (%)</c:v>
                </c:pt>
              </c:strCache>
            </c:strRef>
          </c:tx>
          <c:spPr>
            <a:solidFill>
              <a:srgbClr val="1D42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2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5A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68D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095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BC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Эффективность</c:v>
                  </c:pt>
                  <c:pt idx="1">
                    <c:v>USG%</c:v>
                  </c:pt>
                  <c:pt idx="2">
                    <c:v>Потери</c:v>
                  </c:pt>
                  <c:pt idx="3">
                    <c:v>Подборы</c:v>
                  </c:pt>
                  <c:pt idx="4">
                    <c:v>TS%</c:v>
                  </c:pt>
                  <c:pt idx="5">
                    <c:v>3P%</c:v>
                  </c:pt>
                  <c:pt idx="6">
                    <c:v>Перехваты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55.9</c:v>
                </c:pt>
                <c:pt idx="1">
                  <c:v>17.6</c:v>
                </c:pt>
                <c:pt idx="2">
                  <c:v>17.3</c:v>
                </c:pt>
                <c:pt idx="3">
                  <c:v>2.3</c:v>
                </c:pt>
                <c:pt idx="4">
                  <c:v>1.7</c:v>
                </c:pt>
                <c:pt idx="5">
                  <c:v>1</c:v>
                </c:pt>
                <c:pt idx="6">
                  <c:v>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P(All-Star) — топ-8 игроков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P(All-Star), %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25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4A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3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8B4C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C2C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8D0D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Топ-1</c:v>
                  </c:pt>
                  <c:pt idx="1">
                    <c:v>Топ-2</c:v>
                  </c:pt>
                  <c:pt idx="2">
                    <c:v>Топ-3</c:v>
                  </c:pt>
                  <c:pt idx="3">
                    <c:v>Топ-4</c:v>
                  </c:pt>
                  <c:pt idx="4">
                    <c:v>Топ-5</c:v>
                  </c:pt>
                  <c:pt idx="5">
                    <c:v>Топ-6</c:v>
                  </c:pt>
                  <c:pt idx="6">
                    <c:v>Топ-7</c:v>
                  </c:pt>
                  <c:pt idx="7">
                    <c:v>Топ-8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</c:v>
                </c:pt>
                <c:pt idx="1">
                  <c:v>87</c:v>
                </c:pt>
                <c:pt idx="2">
                  <c:v>82</c:v>
                </c:pt>
                <c:pt idx="3">
                  <c:v>76</c:v>
                </c:pt>
                <c:pt idx="4">
                  <c:v>71</c:v>
                </c:pt>
                <c:pt idx="5">
                  <c:v>67</c:v>
                </c:pt>
                <c:pt idx="6">
                  <c:v>61</c:v>
                </c:pt>
                <c:pt idx="7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Граница Парето оптимальных составов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Случайные составы</c:v>
                </c:pt>
              </c:strCache>
            </c:strRef>
          </c:tx>
          <c:spPr>
            <a:solidFill>
              <a:srgbClr val="C8D0D8"/>
            </a:solidFill>
            <a:ln w="31750" cap="flat">
              <a:solidFill>
                <a:srgbClr val="C8D0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D0D8"/>
              </a:solidFill>
              <a:ln w="9525" cap="flat">
                <a:solidFill>
                  <a:srgbClr val="C8D0D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290</c:v>
                </c:pt>
                <c:pt idx="1">
                  <c:v>310</c:v>
                </c:pt>
                <c:pt idx="2">
                  <c:v>330</c:v>
                </c:pt>
                <c:pt idx="3">
                  <c:v>355</c:v>
                </c:pt>
                <c:pt idx="4">
                  <c:v>370</c:v>
                </c:pt>
                <c:pt idx="5">
                  <c:v>385</c:v>
                </c:pt>
                <c:pt idx="6">
                  <c:v>395</c:v>
                </c:pt>
                <c:pt idx="7">
                  <c:v>410</c:v>
                </c:pt>
                <c:pt idx="8">
                  <c:v>418</c:v>
                </c:pt>
                <c:pt idx="9">
                  <c:v>422</c:v>
                </c:pt>
                <c:pt idx="10">
                  <c:v>425</c:v>
                </c:pt>
                <c:pt idx="11">
                  <c:v>426</c:v>
                </c:pt>
                <c:pt idx="12">
                  <c:v>426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Граница Парето</c:v>
                </c:pt>
              </c:strCache>
            </c:strRef>
          </c:tx>
          <c:spPr>
            <a:solidFill>
              <a:srgbClr val="C8102E"/>
            </a:solidFill>
            <a:ln w="31750" cap="flat">
              <a:solidFill>
                <a:srgbClr val="C810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>310</c:v>
                </c:pt>
                <c:pt idx="1">
                  <c:v>332</c:v>
                </c:pt>
                <c:pt idx="2">
                  <c:v>358</c:v>
                </c:pt>
                <c:pt idx="3">
                  <c:v>378</c:v>
                </c:pt>
                <c:pt idx="4">
                  <c:v>395</c:v>
                </c:pt>
                <c:pt idx="5">
                  <c:v>410</c:v>
                </c:pt>
                <c:pt idx="6">
                  <c:v>422</c:v>
                </c:pt>
                <c:pt idx="7">
                  <c:v>432</c:v>
                </c:pt>
                <c:pt idx="8">
                  <c:v>439</c:v>
                </c:pt>
                <c:pt idx="9">
                  <c:v>443</c:v>
                </c:pt>
                <c:pt idx="10">
                  <c:v>445</c:v>
                </c:pt>
                <c:pt idx="11">
                  <c:v>445</c:v>
                </c:pt>
                <c:pt idx="12">
                  <c:v>444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Низкий риск</c:v>
                </c:pt>
              </c:strCache>
            </c:strRef>
          </c:tx>
          <c:spPr>
            <a:solidFill>
              <a:srgbClr val="16A34A"/>
            </a:solidFill>
            <a:ln w="25400" cap="flat">
              <a:solidFill>
                <a:srgbClr val="16A3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A34A"/>
              </a:solidFill>
              <a:ln w="9525" cap="flat">
                <a:solidFill>
                  <a:srgbClr val="16A3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0.95</c:v>
                </c:pt>
                <c:pt idx="2">
                  <c:v>0.89</c:v>
                </c:pt>
                <c:pt idx="3">
                  <c:v>0.82</c:v>
                </c:pt>
                <c:pt idx="4">
                  <c:v>0.73</c:v>
                </c:pt>
                <c:pt idx="5">
                  <c:v>0.64</c:v>
                </c:pt>
                <c:pt idx="6">
                  <c:v>0.55</c:v>
                </c:pt>
                <c:pt idx="7">
                  <c:v>0.47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Высокий риск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0.84</c:v>
                </c:pt>
                <c:pt idx="2">
                  <c:v>0.68</c:v>
                </c:pt>
                <c:pt idx="3">
                  <c:v>0.53</c:v>
                </c:pt>
                <c:pt idx="4">
                  <c:v>0.4</c:v>
                </c:pt>
                <c:pt idx="5">
                  <c:v>0.3</c:v>
                </c:pt>
                <c:pt idx="6">
                  <c:v>0.22</c:v>
                </c:pt>
                <c:pt idx="7">
                  <c:v>0.16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0"/>
            <a:ext cx="54864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0"/>
            <a:ext cx="256032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384048"/>
            <a:ext cx="1463040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840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NBA  2025–26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NBA Analytics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67335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Комплексная платформа анализа NBA-игроков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на основе машинного обучения и математических методов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456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игроков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93976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93976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команд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85032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85032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страниц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76088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9 336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76088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строк кода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67144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67144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модулей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7863840" cy="0"/>
          </a:xfrm>
          <a:prstGeom prst="line">
            <a:avLst/>
          </a:prstGeom>
          <a:noFill/>
          <a:ln w="12700">
            <a:solidFill>
              <a:srgbClr val="1D428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Актуальность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аналитика данных стала основой современного баскетбола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52144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$10 млрд+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Стоимость NBA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(оценка лиги, 2024)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32304" y="1152144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96896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2002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96896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Год революции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Moneyball в спорте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8576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1152144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30 команд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73168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 имеют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data-science отделы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84848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84848" y="1152144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$35 млн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49440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Средняя зарплата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франшизного игрока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42316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💸 Цена ошибки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0624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Неверный контракт на $30–40 млн способен заморозить команду на 3–5 лет.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Пример: Max-контракт травматичному игроку = провал сезона.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64992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Объём данных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64992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матч генерирует тысячи событий. Без автоматизации ни один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скаут не способен обработать всех 456 игроков за разумное время.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44768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44768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Субъективность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09360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Классический скаутинг опирается на мнения. ML-подход устраняет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предвзятость и работает с объективными числами.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Цели и задачи проекта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Что конкретно должна делать система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4300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43000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271016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2710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Кластеризация игроков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61848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Автоматически разбить 456 игроков на архетипы по статистическому профилю.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Помочь скаутам быстро найти аналогов нужного типа.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032" y="237744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377440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" y="250545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Прогноз результативности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Предсказать очки игрока на следующий сезон с учётом возраста.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Метрика качества: MAE &lt; 1.0 очка при 5-fold CV.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61188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611880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739896"/>
            <a:ext cx="329184" cy="329184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73989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Вероятностный анализ (Monte Carlo)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87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Дать не точечный прогноз, а распределение вероятностей: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P(All-Star), P(≥20 pts), интервал неопределённости.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114300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143000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8304" y="1271016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38928" y="12710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Оптимизация состава (Марковиц)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38928" y="1618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Построить оптимальный ростер: максимум Trade Value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при заданном риске травм — как портфель Марковица.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237744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2377440"/>
            <a:ext cx="64008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18304" y="250545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38928" y="2505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AI-автоматизация отчётов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38928" y="2852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Генерировать скаутинговые отчёты и анализ трейдов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через Google Gemini 2.5 Flash без участия эксперта.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Данные: источник и предобработка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NBA Stats API → 456 игроков · 85 показателей · Сезон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4048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NBA Stats API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stats.nba.com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LeagueDashPlayer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JSON → pandas DataFrame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76272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32304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560320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Очистка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60320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Удаление дублей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Обработка NaN (fillna 0)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Типизация полей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52544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08576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36592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⚗️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36592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Feature Engineering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36592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efficiency = PTS+REB+AST−TOV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TS% = PTS/(2*(FGA+0.44*FTA))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Norm → StandardScaler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28816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84848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12864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12864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Сохранение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12864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data/processed/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players_clustered.csv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(85 колонок)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01752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Группы признаков: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🏀 Результативность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PTS, AST, REB, STL, BLK, TOV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432304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🎯 Эффективность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32304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FG%, 3P%, FT%, TS%, USG%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08576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08576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📈 Продвинутые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608576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+/-, efficiency, MIN, W_PCT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84848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4848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👤 Контекст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4848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AGE, GP, TEAM, позиция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 ·  REB — подборы  ·  STL — перехваты  ·  BLK — блоки  ·  TOV — потери  ·  FG% — % попаданий с игры  ·  3P% — % трёхочковых  ·  FT% — % штрафных  ·  TS% — True Shooting%  ·  USG% — % использ. атак  ·  +/- — плюс-минус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Архитектура системы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22 независимых модуля · Streamlit frontend · Plotly визуализация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Данные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64592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fetch_data.py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4592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generate_mock_data.py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4592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features.py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Аналитика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38528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clustering.py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38528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prediction.py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938528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anomaly.py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38528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0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advanced_stats.py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Математика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12464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monte_carlo.py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12464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85616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portfolio.py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12464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85616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bayes_stats.py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12464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network.py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12464" y="33832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85616" y="33832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survival.py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Оценка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59552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trade_value.py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0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59552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injury_risk.py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contract_value.py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0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59552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development_curve.py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Визуализация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260336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3488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plots.py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260336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33488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shot_chart.py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60336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33488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team_builder.py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260336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33488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ai_analyst.py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solidFill>
            <a:srgbClr val="081423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72C"/>
                </a:solidFill>
              </a:rPr>
              <a:t>app/dashboard.py (2 523 строки)  ·  app/nba_theme.py  ·  src/theme_utils.py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1 · КЛАСТЕРИЗАЦИЯ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Кластеризация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игроков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UMAP  +  K-Means  →  5 архетипов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Зачем кластеризовать игроков?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Переход от позиций (PG/SG/SF/PF/C) к функциональным архетипам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Классические позиции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Игрок ≠ позиция (Дрэймонд Грин)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Один PG может быть scorer, другой — organizer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5 позиций не отражают 456 игровых стилей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Нельзя найти «аналога» без общего пространства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64608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64608" y="1115568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Кластеризация по статистике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92624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Основана на 13 реальных показателях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92624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Учитывает USG%, TS%, +/-, эффективность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92624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Позволяет найти похожих игроков мгновенно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92624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 для radar-профилей и AI-отчётов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UMAP — снижение размерности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13 признаков → 2D · Сохраняет локальную и глобальную структуру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Что такое UMAP?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Uniform Manifold Approximation and Projection.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граф ближайших соседей в высокоразмерном пространстве,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затем оптимизирует 2D-представление, сохраняя топологию.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если два игрока близки по 13 признакам —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они должны быть близки и на карте.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PCA или t-SNE?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PCA: линейный, теряет нелинейные зависимости.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t-SNE: только локальная структура, не масштабируется.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UMAP: сохраняет оба уровня, работает быстрее t-SNE,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глобальная структура кластеров остаётся осмысленной.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Параметры UMAP: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n_neighbors = 15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73168" y="1773936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Радиус локального графа. Меньше → детальнее, больше → глобальнее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45152" y="2103120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139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n_components = 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3168" y="243230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Целевая размерность (2D для визуализации)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45152" y="2761488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798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min_dist = 0.1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73168" y="3090672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Минимальное расстояние между точками в 2D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5152" y="3419856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= 'euclidean'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73168" y="3749040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Метрика расстояния в исходном пространстве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45152" y="4078224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73168" y="440740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Воспроизводимость результата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кластеризации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5 архетипов · 456 игроков · NBA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2798064" cy="43891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⭐ Звезда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78608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46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8.7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4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82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82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7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40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польза в защите,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ребаундеры и якорные бигмены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115568"/>
            <a:ext cx="2798064" cy="43891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🎯 Плеймейкер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522976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152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10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10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68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68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26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26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85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85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Ведут мяч, раздают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пасы, умеренный объём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44768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44768" y="1115568"/>
            <a:ext cx="2798064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🏀 Большой (Big Man)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467344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117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54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54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12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12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3.1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71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71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19.9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54496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Угроза со средней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дистанции, атака с позиций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554480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554480" y="3108960"/>
            <a:ext cx="2798064" cy="4389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64208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🛡 3-and-D игрок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77056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63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664208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64208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22.5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22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322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5.6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980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80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6.6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639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639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26.8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664208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нагрузка,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скоринг + плеймейкинг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498848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498848" y="3108960"/>
            <a:ext cx="2798064" cy="43891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8576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🔧 Ролевой игрок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821424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78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608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608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266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266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1.3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925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925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2.1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583680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583680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15.6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4608576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Минимальный объём,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специализированные роли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(assists)  ·  REB — подборы (rebounds)  ·  USG% — % использования атак команды  ·  n — кол-во игроков в кластере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2 · ПРОГНОЗИРОВАНИЕ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Прогноз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результативности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033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XGBoost Regressor  ·  5-fold Cross-Validation  ·  Возрастной коэффициент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XGBoost — Gradient Boosting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ансамбль деревьев точнее линейных моделей для спортивных данных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Принцип работы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N деревьев последовательно. Каждое следующее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дерево минимизирует ошибку предыдущего (градиентный спуск).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Итоговый прогноз = взвешенная сумма всех деревьев.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 добавляет L1/L2-регуляризацию → не переобучается.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линейная регрессия?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Спортивные данные нелинейны: молодой игрок с USG%=30%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 ветеран с USG%=30% дадут разный результат.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Ridge/Lasso не уловят возраст × USG взаимодействие.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XGBoost: R²=0.977 vs Ridge R²≈0.89 на тех же данных.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Гиперпараметры: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73168" y="17373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Количество деревьев (больше → точнее, но медленнее)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45152" y="2011680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73168" y="230428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Глубина каждого дерева (контроль сложности модели)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45152" y="2578608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 = 0.05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73168" y="287121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Шаг градиентного спуска (меньше → стабильнее)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45152" y="3145536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182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subsample = 0.8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73168" y="343814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выборки для каждого дерева (регуляризация)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45152" y="3712464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37490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colsample_bytree = 0.8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73168" y="400507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признаков для каждого дерева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45152" y="427939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4315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73168" y="45720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Воспроизводимость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прогноза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MAE = 0.69 очка · R² = 0.977 · 5-fold кросс-валидация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A34A"/>
                </a:solidFill>
              </a:rPr>
              <a:t>0.69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MAE (очков)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10058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0.977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R² качество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1005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K-fold splits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13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признаков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304288"/>
          <a:ext cx="5029200" cy="25786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49824" y="2304288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49824" y="230428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14416" y="23865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Эффективность (55.9%)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614416" y="270662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Составной индекс (PTS+REB+AST−TOV) — главный предиктор.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Всесторонний игрок → высокая результативность.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49824" y="3621024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449824" y="3621024"/>
            <a:ext cx="64008" cy="1188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14416" y="3703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USG% + Потери (35%)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14416" y="402336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Нагрузка (USG%) при контроле потерь определяет объём.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Игрок с высоким USG и низкими потерями — элита.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MAE — средняя абсолютная ошибка прогноза (pts)  ·  R² — коэф. детерминации — доля объяснённой дисперсии (1.0 = идеал)  ·  K-fold — разбивка на K блоков для кросс-валидации  ·  Эффективность — PTS + REB + AST − TOV  ·  USG% — % владений, завершённых игроком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3 · ПРОДВИНУТАЯ МАТЕМАТИКА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математических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модулей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5603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Monte Carlo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8404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src/monte_carlo.py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407 строк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2140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2140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Марковиц MVO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2140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src/portfolio.py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457 строк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3075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5876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5876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Байесовский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5876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src/bayes_stats.py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602 строки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6811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9612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🕸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9612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Сетевой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9612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src/network.py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561 строка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547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3348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⚰️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3348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Выживаемость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3348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src/survival.py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626 строк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теория и обоснование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Зачем 8 000 симуляций вместо точечного прогноза?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Проблема точечного прогноза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«Игрок забьёт 18.5 очков» — бесполезно для GM.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Нужно знать: с какой вероятностью ≥20? Насколько стабилен?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на $25M оправдан только если P(All-Star) &gt; 50%.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630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Normal(μ, σ)?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Статистики игроков за сезон хорошо аппроксимируются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нормальным распределением (ЦПТ: ~82 игры).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μ = исторический средний по сезону.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σ = μ × CV, где CV учитывает молодость и малое GP.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Модель коэффициента вариации: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= 0.10 + max(0,(30−GP)/300) + age_adj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age_adj = 0.02 if age&lt;22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0.01 if age&gt;34  else 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42032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Интерпретация: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45152" y="2834640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CV = 10% — базовая неопределённость (ветеран, 82GP)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236976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GP &lt; 30 — бонус за малую выборку (+до 7%)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639312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&lt; 22 — молодой = нестабильный (+2%)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041648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&gt; 34 — на спаде = нестабильный (+1%)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45152" y="4443984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8 000 симуляций → статистически устойчивые вероятности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μ — математическое ожидание (исторический средний)  ·  σ — стандартное отклонение = μ × CV  ·  CV — коэффициент вариации — мера нестабильности  ·  GP — количество сыгранных матчей (games played)  ·  age_adj — поправка к CV за возраст (&lt;22 или &gt;34 лет)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результаты и применение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P(All-Star), P(≥20pts), P(≥25pts) для каждого из 456 игроков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9144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8 000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симуляций/игрок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9144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~12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P(All-Star) ≥ 50%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пороговые метрики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P10/P90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интервал прогноза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212848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742432" y="22128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742432" y="2212848"/>
            <a:ext cx="64008" cy="12435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07024" y="22951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📋 GM-решения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907024" y="26151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оправдан, если P(All-Star) &gt; 40%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или P(≥20pts) &gt; 60%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742432" y="35844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742432" y="3584448"/>
            <a:ext cx="64008" cy="12435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07024" y="36667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⚠️ Риск-оценка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07024" y="39867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Широкий P10–P90 = высокая неопределённость.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Остерегаться игроков с CV &gt; 25%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P(All-Star) — вероятность: PTS≥20, AST≥5, REB≥5 одновременно  ·  P(≥20pts) — вероятность набрать 20+ очков в среднем за сезон  ·  P10/P90 — 10-й и 90-й перцентиль — нижняя/верхняя граница 80% интервала  ·  CV — коэффициент вариации — чем выше, тем шире разброс симуляций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Портфельная оптимизация (Марковиц)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Финансовая теория 1952 года применяется к построению ростера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9844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Оригинальная теория (Markowitz 1952)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Нобелевская премия по экономике 1990.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Mean-Variance Optimization: найти портфель акций,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максимизирующий ожидаемую доходность при заданном риске.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Ключевой insight: диверсификация снижает риск.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23744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23744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0604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Адаптация к NBA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26080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Акция → игрок. Доходность → Trade Value (0–100).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Риск → Injury Risk (%). Портфель → состав команды.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Ограничение: √(mean(risk²)) ≤ risk_budget.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Цель: максимизировать ΣTV при заданном риске.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Математическая постановка: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 Σ TV(i),  i ∈ Ростер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s.t. σ_p = √(mean(risk_i²)) ≤ 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603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Алгоритм (жадный):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45152" y="2871216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1. Ранжируем игроков по TV / risk_i (Sharpe Ratio)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310128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2. Добавляем игрока, если σ_p ≤ budget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749040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3. Повторяем до заполнения N мест ростера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187952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4. Граница Парето: перебор B от 10 до 90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составной индекс ценности игрока (0–100)  ·  σₚ — риск ростера = √(mean(risk²)) — среднеквадратичный риск состава  ·  B — бюджет риска — допустимый порог σₚ (задаётся GM)  ·  MVO — Mean-Variance Optimization — метод Марковица 1952 г.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Оптимизация ростера: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Эффективная граница Парето · Оптимальный состав при любом бюджете риска</a:t>
            </a:r>
            <a:endParaRPr lang="en-US" sz="11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56032" y="1115568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3159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X = риск-бюджет (%)  ·  Y = суммарный Trade Value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532120" y="1115568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32120" y="1115568"/>
            <a:ext cx="64008" cy="11338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96712" y="1197864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💡 Граница Парето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96712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Каждая точка красной кривой — лучший достижимый состав.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Ниже кривой — неоптимальные ростеры (можно лучше).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532120" y="2377440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32120" y="2377440"/>
            <a:ext cx="64008" cy="113385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96712" y="245973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Практическое применение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96712" y="2779776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GM выбирает допустимый риск (например, 40%) 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получает оптимальный состав из N игроков.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3639312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32120" y="3639312"/>
            <a:ext cx="64008" cy="113385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96712" y="37216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Диверсификация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96712" y="404164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 только из «звёзд» = высокий риск.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Портфель с ролевыми снижает σ без потери TV.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X-ось — бюджет риска (%) — допустимый среднеквадратичный риск ростера  ·  Y-ось — суммарный Trade Value всех игроков состава  ·  Парето-граница — лучший достижимый TV при каждом уровне риска  ·  Случайные составы — случайная выборка ростеров для сравнения с оптимумом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Байесовская статистика: проблема малых 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Когда 5 игр не показатель — регуляризация к лиговому приору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solidFill>
            <a:srgbClr val="081423"/>
          </a:solidFill>
          <a:ln w="12700">
            <a:solidFill>
              <a:srgbClr val="0814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72C"/>
                </a:solidFill>
              </a:rPr>
              <a:t>Пример: Игрок А сыграл 5 матчей, FG% = 80% (8/10 бросков). Стоит ли давать Max-контракт?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810512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Наивная статистика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FG% наблюдаемый = 80% → «отличный снайпер»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GP = 5 → стандартная ошибка ~13%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CI: [54%, 94%] — бесполезен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GM видит 80% и делает поспешный вывод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Лиговое среднее FG% = 44% — игнорируется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64608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64608" y="1810512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Байесовский подход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92624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Приор: Beta(44, 56) — лиговое среднее FG%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92624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Обновление: Beta(44+8, 56+2) = Beta(52, 58)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92624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Posterior mean = 52/110 = 47.3%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92624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Credible Interval: [38%, 57%] — реалистичен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92624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«Притягивание» к среднему → разумная оценка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FG% — Field Goal % — процент попаданий с игры  ·  Beta(α, β) — α = успешные броски, β = промахи (параметры бета-распределения)  ·  Posterior mean — апостериорное среднее после учёта наблюдений  ·  Credible Interval — байесовский аналог доверительного интервала  ·  GP — количество сыгранных матчей (games played)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Байесовские модели: теория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Beta-Binomial для процентов · Normal-Normal для счётных метрик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28A"/>
                </a:solidFill>
              </a:rPr>
              <a:t>Модель 1: Beta-Binomial (FG%, 3P%, FT%, TS%)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2646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42646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θ ~ Beta(α₀, β₀)   |   Likelihood: k|θ ~ Binomial(n, θ)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6032" y="19751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9751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θ|k ~ Beta(α₀+k, β₀+n-k)   |   E[θ|k] = (α₀+k)/(α₀+β₀+n)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257860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Модель 2: Normal-Normal (PTS, AST, REB, STL, BLK)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8895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8895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μ ~ N(μ₀, σ₀²)   κ = strength/(strength + n_games)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56032" y="343814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43814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μ_post = κ·μ₀ + (1-κ)·x̄   |   CI ± 1.96·√(σ²/n + κ²·σ₀²)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" y="4005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Приоры (лиговые средние):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FG_PCT: Beta(44, 56)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956816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56816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3P%: Beta(35, 65)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0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FT%: Beta(77, 23)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58384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58384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PTS: N(10.5, 5²)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59168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AST: N(2.2, 2²)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Beta(α₀, β₀) — параметры априорного бета-распределения (лиговое среднее)  ·  κ — сила приора = strength / (strength + n_games); чем меньше GP, тем сильнее приор  ·  μ₀ / σ₀ — параметры нормального приора (среднее и стандартное отклонение по лиге)  ·  E[θ|k] — апостериорное ожидание после учёта k успехов из n попыток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Сетевой анализ: теория и постановка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Граф схожести · PageRank влиятельности · Community Detection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граф?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Традиционная таблица не показывает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структуру: кто похож на кого?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Граф игроков даёт: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«Клоны» для замены на трейде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Влиятельные архетипы (PageRank)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Сообщества стилей игры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63824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63824" y="11155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8416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Косинусная схожесть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28416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sim(a,b) = (a·b)/(‖a‖·‖b‖)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Нормализованное скалярное произведение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векторов из 11 признаков (PTS,AST,REB…)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 0.92 → игроки-«двойники»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456×456 матрица → 1 400 рёбер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71616" y="1115568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115568"/>
            <a:ext cx="64008" cy="16642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19786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PageRank (без NetworkX)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6208" y="1517904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Реализован с нуля на NumPy.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узел важен, если на него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ссылаются другие важные узлы.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d=0.85, max_iter=100.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Результат: мера «типичности» игрока.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Матрица схожести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cosine_similarity(X_scaled) → 456×456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99339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99339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3969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3969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6032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Бинарный граф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adj[i,j]=1 если sim&gt;0.92, иначе 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3075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73075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7705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7705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9768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PageRank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Итерационный алгоритм на adj-матрице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6811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1441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Сообщества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3504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Жадный поиск модульности: 6 сообществ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0547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0547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5177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5177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77240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Визуализация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7240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Spring-layout (векторизованный, без nx)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sim(a,b) — косинусная схожесть двух игроков по 11 статпоказателям (0 = разные, 1 = идентичны)  ·  adj[i,j] — матрица смежности: 1 если схожесть &gt; 0.92, иначе 0  ·  PageRank — мера «типичности» игрока для архетипа своего кластера (d=0.85)  ·  Сообщество — группа взаимно-похожих игроков, найденная по модульности графа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Анализ выживаемости карьеры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Kaplan-Meier + Cox PH — когда произойдёт спад эффективности?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Постановка задачи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«Событие» = снижение efficiency ≥ 15% от пика.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«Время» = число сезонов до события.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Задача: оценить вероятность P(игрок сохранит пик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 горизонте T сезонов) по группам риска/возраста.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615184"/>
            <a:ext cx="4133088" cy="1408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615184"/>
            <a:ext cx="64008" cy="140817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9748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Kaplan-Meier (реализация с нуля)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3017520"/>
            <a:ext cx="3895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Непараметрическая оценка функции выживаемости S(t).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S(t) = Π(1 − d_i/n_i) — произведение дожитий.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Дисперсия Гринвуда: σ² = S(t)²·Σ(d_i/(n_i(n_i−d_i))).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95% CI через log(−log) преобразование.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Cox Proportional Hazard (аппроксимация):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h(t|x) = h₀(t) · exp(β₁x₁ + … + βₖxₖ)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45152" y="1975104"/>
            <a:ext cx="4242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Аппроксимирован через LogisticRegression + bootstrap (200 итераций).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Признаки: AGE, injury_risk, USG%, cluster, games_played.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Результат: Hazard Ratio с 95% CI для каждого фактора.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&gt; 1.1 → фактор увеличивает риск спада.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&lt; 0.9 → фактор защищает от спада.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645152" y="3639312"/>
          <a:ext cx="4242816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645152" y="4919472"/>
            <a:ext cx="4242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Kaplan-Meier кривые по группам риска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S(t) — функция выживаемости — вероятность сохранить пик к моменту t  ·  dᵢ / nᵢ — число «событий» / число игроков «под риском» в момент tᵢ  ·  KM — Kaplan-Meier — непараметрическая оценка S(t) с нуля без предположений  ·  HR — Hazard Ratio: &gt;1 = фактор ускоряет спад; &lt;1 = защищает от спада  ·  Cox PH — модель пропорциональных рисков (аппроксимирована LogisticReg + bootstrap)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Trade Value: формула расчёта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ценности игрока для трейда (0–100)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Компоненты Trade Value: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81328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5636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🏀 Результативность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609344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609344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35%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45536" y="1517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pts_score = min(PTS/30, 1) × 35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45536" y="1792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Очки — главная торговая ценность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2139696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2199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🛡 Защита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267712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226771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45536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def_score = (STL×2 + BLK×1.5 + REB×0.5)/5 × 20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45536" y="24505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Защитные метрики — недооценённы рынком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2798064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880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⚡ Эффективность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2926080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5536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eff_score = (TS%/0.65 + USG%/0.35) / 2 × 25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145536" y="31089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TS% и нагрузка — качество бросков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" y="3456432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35387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📈 Возраст/потенциал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0" y="3584448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3584448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45536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age_score = max(0, (35-AGE)/17) × 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45536" y="37673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Молодость = будущая ценность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" y="4114800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🎯 Надёжность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60320" y="4242816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0" y="424281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45536" y="4151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rel_score = min(GP/82, 1) × 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145536" y="44256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Количество сыгранных матчей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" y="4773168"/>
            <a:ext cx="8631936" cy="310896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0624" y="4773168"/>
            <a:ext cx="8357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TV = pts_score + def_score + eff_score + age_score + rel_score  ∈ [0, 100]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итоговый индекс ценности (0–100)  ·  TS% — True Shooting % = PTS / (2×(FGA + 0.44×FTA)) — настоящая эффективность броска  ·  USG% — Usage Rate — % владений команды, завершённых игроком (атака/потеря/фол)  ·  STL — перехваты (steals)  ·  BLK — блоки (blocks)  ·  GP — сыгранных матчей из 82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Модель риска травм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0–100 · 5 факторов риска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👴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9494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Возраст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Базовый риск растёт после 30 лет.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Пик опасности: 34–38 лет.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9631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🏃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3230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8483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Нагрузка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8483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Высокий MIN/GP и USG% увеличивают износ.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Линейная зависимость.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73075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3367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📉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16966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2219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Потери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219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Много потерь = нестабильность контроля,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косвенный сигнал усталости.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6811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7103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0702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0702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5955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GP надёжность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Мало сыгранных матчей = история травм.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Менее 50 GP = красный флаг.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0547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0839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764438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438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9691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Эффективность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Падение TS% при высоком USG% =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игрок форсирует через усталость.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041648"/>
            <a:ext cx="8631936" cy="438912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4041648"/>
            <a:ext cx="8357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InjuryRisk = 0.25·age_risk + 0.30·load_risk + 0.20·tov_risk + 0.15·gp_risk + 0.10·eff_risk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56032" y="4526280"/>
            <a:ext cx="8631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Средний риск по лиге: 48.7% · Рекомендуется избегать игроков с risk &gt; 70%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GP — games played — сыгранных матчей (&lt;50 = красный флаг)  ·  USG% — нагрузка — % владений команды, завершённых игроком  ·  TOV — потери мяча (turnovers) — косвенный сигнал усталости  ·  TS% — True Shooting % — эффективность броска с учётом 3P и штрафных  ·  MIN/GP — среднее игровое время за матч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4 · AI ИНТЕГРАЦИЯ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AI-аналитик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 базе Gemini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Google Gemini 2.5 Flash  ·  4 типа скаутинговых отчётов  ·  AI Trade Machine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Скаутинг-отчёт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Prompt Engineering → Gemini 2.5 Flash → Профессиональный русскоязычный анализ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AI-отчёт?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Ручной анализ одного игрока: 30–60 минут эксперта.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AI-отчёт: 3–5 секунд при тех же данных.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 игроков × 4 типа = 1 824 возможных отчёта.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4475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Prompt Engineering (src/ai_analyst.py)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промпт передаются: стат. профиль, кластер,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Trade Value, Injury Risk, средние по кластеру.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Системная роль: «ведущий NBA аналитик и скаут».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конкретные числа → конкретные выводы.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45152" y="11155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5152" y="11155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1978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🔍 Полный скаутинг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09744" y="1517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 секции: сильные стороны, зоны роста,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роль в команде, трансферная оценка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45152" y="20299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45152" y="20299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21122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Контрактная оценка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9744" y="24323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Справедливая зарплата, риски,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макс. лет контракта, рекомендация GM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45152" y="29443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5152" y="29443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9744" y="30266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Прогноз карьеры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9744" y="33467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Фаза карьеры, потолок/дно,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исторические аналоги (реальные игроки)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45152" y="38587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45152" y="38587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39410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⚔️ Сравнение игроков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09744" y="42611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Head-to-head двух игроков: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статистика, стиль, TV-баланс, вердикт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Trade Machine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Интерактивный симулятор обмена + Gemini-вердикт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4747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Выбор игроков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Мультиселект до 4 игроков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каждой стороны обмена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8366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9339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9631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8483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TV-баланс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8483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Визуальный прогресс-бар: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расчёт ΔTV в реальном времени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2102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3075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3367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2219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Мини-карточки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2219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TV, тир, очки/передачи/подборы,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риск травм для каждого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35838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6811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7103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5955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Gemini-анализ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5955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Ценностный баланс, командная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логика, риски, альтернативы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9574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0547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0839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9691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Вердикт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691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✅ Team A / 🔄 Team B / ⚖️ Neutral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уровнем уверенности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56032" y="36210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Промпт для Gemini включает: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56032" y="393192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Полный статпрофиль каждого игрока с обеих сторон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6032" y="420624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TV-баланс (ΔTV) и направление перекоса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6032" y="448056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Средние возрасты и injury risk обеих сторон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6032" y="475488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5 секций анализа + вердикт с уровнем уверенности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Интерфейс: структура и навигация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7 категорий · 20 страниц · Темная NBA-тема · st.cache_data · Plotly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7863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795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Обзор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Обзор · Лидеры · Кластеры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" y="20299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0299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939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👤 Игроки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4323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Карточка · Head-to-Head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7863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083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ML &amp; Аналитика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Аномалии · Прогноз · Продвинутая · AI Скаут · AI Трейд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8587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3858768"/>
            <a:ext cx="64008" cy="78638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9227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Трейд &amp; Деньги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0624" y="42611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 Value · Контракт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73168" y="11155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73168" y="1115568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1795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Развитие &amp; Здоровье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15179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Развитие · Риск травмы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73168" y="20299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73168" y="2029968"/>
            <a:ext cx="64008" cy="7863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0939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🏗️ Тактика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4323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Состав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73168" y="29443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73168" y="29443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30083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🧮 Математика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3467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 Carlo · Марковиц · Байес · Сеть · Выживаемость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Ключевые технические решения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Производительность · Кэширование · Тёмная тема · Модульность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⚡ st.cache_data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тяжёлый расчёт (Monte Carlo, Байес, сеть)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обёрнут в @st.cache_data. Первый запуск: 3–15 сек.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Последующие: мгновенно. Инвалидация по хэшу данных.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15568"/>
            <a:ext cx="64008" cy="16642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🎨 Тёмная NBA-тема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73752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Единый Plotly-template 'nba_dark' зарегистрирован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src/theme_utils.py (без зависимости от Streamlit).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Цветовая схема: #0c1220 / #1D428A / #C8102E / #FFC72C.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16642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🧩 Модульная архитектура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22 независимых src-модуля. Dashboard.py маршрутизирует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страницы через elif page == '...'.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Новый модуль = добавить файл + 1 строку в CATEGORIES.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443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AI без блокировки UI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73752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Gemini вызывается только по кнопке + st.spinner.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История отчётов в st.session_state (последние 5).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Graceful fallback если нет API-ключа.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Сводные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Все модули — статус, метрики, ключевые достижения</a:t>
            </a:r>
            <a:endParaRPr lang="en-US" sz="11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78992"/>
          <a:ext cx="8631936" cy="3822192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2231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Результат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Кластеризация (UMAP+KMeans)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архетипов, 456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Силуэт &gt; 0.65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XGBoost прогноз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MAE = 0.69 pts, R² = 0.977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Выше baseline×1.8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Monte Carlo (8000 sim)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P(All-Star) для всех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8 000 сим/игрок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Марковиц MVO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Оптимальный ростер + Парето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Граница 20 точек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Байесовская статистика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shooting + 5 counting stats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Shrinkage для GP&lt;20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Сетевой анализ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1 400 рёбер, 6 сообществ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PageRank с нуля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Анализ выживаемости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KM + Cox PH (200 bootstrap)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3 группы риска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 Value + Injury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TV 0–100, риск 0–100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5-компонентная модель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AI Скаут + AI Трейд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Gemini 2.5 Flash, 4 типа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Сессионная история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ИТОГИ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Выводы 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перспективы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1214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396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Создана полная аналитическая платформа: от данных до AI-отчётов, 9 336 строк кода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5968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6151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ML-пайплайн: XGBoost R²=0.977, MAE=0.69 — точность выше типичных спортивных моделей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30906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5 математических модулей реализованы с нуля (KM, PageRank, spring-layout без NetworkX)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5661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Байесовский подход решает ключевую проблему малых выборок в NBA-аналитике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0233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041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AI-интеграция устраняет ручной труд скаута: 1 клик = профессиональный отчёт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4572000"/>
            <a:ext cx="8321040" cy="0"/>
          </a:xfrm>
          <a:prstGeom prst="line">
            <a:avLst/>
          </a:prstGeom>
          <a:noFill/>
          <a:ln w="9525">
            <a:solidFill>
              <a:srgbClr val="1D3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663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72C"/>
                </a:solidFill>
              </a:rPr>
              <a:t>🔭 Дальнейшее развитие: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466344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Hot/Cold Streak детектор  ·  Real-time NBA API  ·  Draft Intelligence  ·  Cap Space Optimizer  ·  Player DNA (NMF)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GitHub Link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github.com/SlavaVyunik/nba-analytics-dashboard</a:t>
            </a:r>
            <a:r>
              <a:rPr lang="en-US" sz="750" dirty="0">
                <a:solidFill>
                  <a:srgbClr val="FFB3B3"/>
                </a:solidFill>
              </a:rPr>
              <a:t>   ·   </a:t>
            </a:r>
            <a:r>
              <a:rPr lang="en-US" sz="750" b="1" dirty="0">
                <a:solidFill>
                  <a:srgbClr val="FFFFFF"/>
                </a:solidFill>
              </a:rPr>
              <a:t>nba-analytics-dashboard-ancv7lxitqgb5zxgdjhqgm.streamlit.app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NBA Analytics Dashboard — Полная презентация</dc:title>
  <dc:subject>PptxGenJS Presentation</dc:subject>
  <dc:creator>Дипломный проект</dc:creator>
  <cp:lastModifiedBy>Дипломный проект</cp:lastModifiedBy>
  <cp:revision>1</cp:revision>
  <dcterms:created xsi:type="dcterms:W3CDTF">2026-05-31T18:55:33Z</dcterms:created>
  <dcterms:modified xsi:type="dcterms:W3CDTF">2026-05-31T18:55:33Z</dcterms:modified>
</cp:coreProperties>
</file>